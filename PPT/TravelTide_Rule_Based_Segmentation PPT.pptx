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5CC0EE-2C8E-4264-ABCE-00DA0B6535D8}">
  <a:tblStyle styleId="{165CC0EE-2C8E-4264-ABCE-00DA0B6535D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509760" y="-548640"/>
            <a:ext cx="3291840" cy="3291840"/>
          </a:xfrm>
          <a:prstGeom prst="ellipse">
            <a:avLst/>
          </a:prstGeom>
          <a:solidFill>
            <a:srgbClr val="1C729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058400" y="182880"/>
            <a:ext cx="2011680" cy="2011680"/>
          </a:xfrm>
          <a:prstGeom prst="ellipse">
            <a:avLst/>
          </a:prstGeom>
          <a:solidFill>
            <a:srgbClr val="1C729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22960" y="214884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TravelTide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68680" y="297180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CE8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BFDCE8"/>
                </a:solidFill>
                <a:latin typeface="Calibri"/>
                <a:ea typeface="Calibri"/>
                <a:cs typeface="Calibri"/>
                <a:sym typeface="Calibri"/>
              </a:rPr>
              <a:t>Customer Segmentation &amp; Personalized Rewards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68680" y="352044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8C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FB8C9"/>
                </a:solidFill>
                <a:latin typeface="Calibri"/>
                <a:ea typeface="Calibri"/>
                <a:cs typeface="Calibri"/>
                <a:sym typeface="Calibri"/>
              </a:rPr>
              <a:t>A rule-based SQL segmentation strategy for the TravelTide Rewards Program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68680" y="4251960"/>
            <a:ext cx="4023360" cy="1051560"/>
          </a:xfrm>
          <a:prstGeom prst="roundRect">
            <a:avLst>
              <a:gd fmla="val 6957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097280" y="43891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9D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FC9DB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097280" y="4645152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Uddipta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97280" y="507492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C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DCE8"/>
                </a:solidFill>
                <a:latin typeface="Calibri"/>
                <a:ea typeface="Calibri"/>
                <a:cs typeface="Calibri"/>
                <a:sym typeface="Calibri"/>
              </a:rPr>
              <a:t>Data Analytics &amp; Strategy Department  |  July 30,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1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TravelTide Customer Segmentation &amp; Personalized Rewards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691640"/>
            <a:ext cx="5364328" cy="4663440"/>
          </a:xfrm>
          <a:prstGeom prst="roundRect">
            <a:avLst>
              <a:gd fmla="val 1569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68680" y="1965960"/>
            <a:ext cx="4724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9D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C9DB"/>
                </a:solidFill>
                <a:latin typeface="Calibri"/>
                <a:ea typeface="Calibri"/>
                <a:cs typeface="Calibri"/>
                <a:sym typeface="Calibri"/>
              </a:rPr>
              <a:t>BUSINESS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68680" y="2423160"/>
            <a:ext cx="4724248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TravelTide currently offers generic rewards to all customers.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E4EEF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However, customers exhibit different booking and travel behaviors.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E4EEF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A one-size-fits-all rewards strategy may miss opportunities to improve engagement and retention.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278728" y="1691640"/>
            <a:ext cx="5364328" cy="4663440"/>
          </a:xfrm>
          <a:prstGeom prst="roundRect">
            <a:avLst>
              <a:gd fmla="val 1569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598768" y="1965960"/>
            <a:ext cx="4724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B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6EBF2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598768" y="2377440"/>
            <a:ext cx="4724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 a rule-based customer segmentation using SQL to: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598768" y="3017520"/>
            <a:ext cx="4724248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Classify every eligible customer into exactly one segment.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 one personalized reward to each segment.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Increase customer engagement, loyalty, and repeat bookings.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Rule-Based Customer Segmentation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02920" y="1417320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02920" y="1746504"/>
            <a:ext cx="5349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Filtered active users with more than 7 sessions since 4 January 2023.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Joined Users, Sessions, Flights, and Hotels tables.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Aggregated data to the user level.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126480" y="1417320"/>
            <a:ext cx="5605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FEATURES CREATED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126480" y="1746504"/>
            <a:ext cx="1783080" cy="384048"/>
          </a:xfrm>
          <a:prstGeom prst="roundRect">
            <a:avLst>
              <a:gd fmla="val 19048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217920" y="174650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Completed trips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037576" y="1746504"/>
            <a:ext cx="1783080" cy="384048"/>
          </a:xfrm>
          <a:prstGeom prst="roundRect">
            <a:avLst>
              <a:gd fmla="val 19048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8129016" y="174650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Cancellation 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9948672" y="1746504"/>
            <a:ext cx="1783080" cy="384048"/>
          </a:xfrm>
          <a:prstGeom prst="roundRect">
            <a:avLst>
              <a:gd fmla="val 19048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10040112" y="174650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Flight bookings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126480" y="2221992"/>
            <a:ext cx="1783080" cy="384048"/>
          </a:xfrm>
          <a:prstGeom prst="roundRect">
            <a:avLst>
              <a:gd fmla="val 19048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217920" y="2221992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Hotel bookings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8037576" y="2221992"/>
            <a:ext cx="1783080" cy="384048"/>
          </a:xfrm>
          <a:prstGeom prst="roundRect">
            <a:avLst>
              <a:gd fmla="val 19048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8129016" y="2221992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Seats booked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948672" y="2221992"/>
            <a:ext cx="1783080" cy="384048"/>
          </a:xfrm>
          <a:prstGeom prst="roundRect">
            <a:avLst>
              <a:gd fmla="val 19048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10040112" y="2221992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Hotel rooms booked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126480" y="2697480"/>
            <a:ext cx="1783080" cy="384048"/>
          </a:xfrm>
          <a:prstGeom prst="roundRect">
            <a:avLst>
              <a:gd fmla="val 19048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217920" y="269748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Hotel nights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037576" y="2697480"/>
            <a:ext cx="1783080" cy="384048"/>
          </a:xfrm>
          <a:prstGeom prst="roundRect">
            <a:avLst>
              <a:gd fmla="val 19048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8129016" y="269748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Checked baggage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9948672" y="2697480"/>
            <a:ext cx="1783080" cy="384048"/>
          </a:xfrm>
          <a:prstGeom prst="roundRect">
            <a:avLst>
              <a:gd fmla="val 19048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10040112" y="269748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Booking lead 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126480" y="3172968"/>
            <a:ext cx="1783080" cy="384048"/>
          </a:xfrm>
          <a:prstGeom prst="roundRect">
            <a:avLst>
              <a:gd fmla="val 19048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217920" y="3172968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Day of departure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037576" y="3172968"/>
            <a:ext cx="1783080" cy="384048"/>
          </a:xfrm>
          <a:prstGeom prst="roundRect">
            <a:avLst>
              <a:gd fmla="val 19048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129016" y="3172968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Discount usage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02920" y="3977640"/>
            <a:ext cx="11185855" cy="777240"/>
          </a:xfrm>
          <a:prstGeom prst="roundRect">
            <a:avLst>
              <a:gd fmla="val 9412" name="adj"/>
            </a:avLst>
          </a:prstGeom>
          <a:solidFill>
            <a:srgbClr val="DCEB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731520" y="4069080"/>
            <a:ext cx="10728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CLASSIFICATION APPROACH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31520" y="4306824"/>
            <a:ext cx="1072865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 priority-based SQL CASE statement assigns every customer to exactly one segment, ensuring that each user belongs to only one group.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02920" y="5074920"/>
            <a:ext cx="2556434" cy="685800"/>
          </a:xfrm>
          <a:prstGeom prst="roundRect">
            <a:avLst>
              <a:gd fmla="val 10667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02920" y="5074920"/>
            <a:ext cx="255643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User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5"/>
          <p:cNvCxnSpPr/>
          <p:nvPr/>
        </p:nvCxnSpPr>
        <p:spPr>
          <a:xfrm>
            <a:off x="3059354" y="541782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" name="Google Shape;79;p5"/>
          <p:cNvSpPr/>
          <p:nvPr/>
        </p:nvSpPr>
        <p:spPr>
          <a:xfrm>
            <a:off x="3379394" y="5074920"/>
            <a:ext cx="2556434" cy="685800"/>
          </a:xfrm>
          <a:prstGeom prst="roundRect">
            <a:avLst>
              <a:gd fmla="val 10667" name="adj"/>
            </a:avLst>
          </a:prstGeom>
          <a:solidFill>
            <a:srgbClr val="DCEB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379394" y="5074920"/>
            <a:ext cx="255643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5"/>
          <p:cNvCxnSpPr/>
          <p:nvPr/>
        </p:nvCxnSpPr>
        <p:spPr>
          <a:xfrm>
            <a:off x="5935828" y="541782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" name="Google Shape;82;p5"/>
          <p:cNvSpPr/>
          <p:nvPr/>
        </p:nvSpPr>
        <p:spPr>
          <a:xfrm>
            <a:off x="6255868" y="5074920"/>
            <a:ext cx="2556434" cy="685800"/>
          </a:xfrm>
          <a:prstGeom prst="roundRect">
            <a:avLst>
              <a:gd fmla="val 10667" name="adj"/>
            </a:avLst>
          </a:prstGeom>
          <a:solidFill>
            <a:srgbClr val="DCEB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255868" y="5074920"/>
            <a:ext cx="255643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Rule-Based Segmentation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5"/>
          <p:cNvCxnSpPr/>
          <p:nvPr/>
        </p:nvCxnSpPr>
        <p:spPr>
          <a:xfrm>
            <a:off x="8812301" y="541782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" name="Google Shape;85;p5"/>
          <p:cNvSpPr/>
          <p:nvPr/>
        </p:nvSpPr>
        <p:spPr>
          <a:xfrm>
            <a:off x="9132341" y="5074920"/>
            <a:ext cx="2556434" cy="685800"/>
          </a:xfrm>
          <a:prstGeom prst="roundRect">
            <a:avLst>
              <a:gd fmla="val 1066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9132341" y="5074920"/>
            <a:ext cx="255643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Reward Assignment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SEGMENT PROFILE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Business Travelers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02920" y="1417320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DEFINING CRITERIA (FROM SQL)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02920" y="1728216"/>
            <a:ext cx="53492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Solo traveler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1 seat and 1 room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Books within 15 days of departure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Weekday short trips or weekend trips longer than 3 nights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02920" y="3236976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DISTINCTION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02920" y="3547872"/>
            <a:ext cx="5349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Book closer to departure (unlike Solo travelers)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Show patterns consistent with work-related travel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Frequently book both flights and hotels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02875" y="5570375"/>
            <a:ext cx="5349300" cy="960000"/>
          </a:xfrm>
          <a:prstGeom prst="roundRect">
            <a:avLst>
              <a:gd fmla="val 8889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04038" y="5661810"/>
            <a:ext cx="494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EVIDENCE FROM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04038" y="5881266"/>
            <a:ext cx="49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Largest segment: 2,229 customers (37.16%)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Lowest cancellation rate: 2.10%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80.89% use checked baggage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126480" y="1417320"/>
            <a:ext cx="5605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SEGMENTATION LOGIC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374636" y="1783080"/>
            <a:ext cx="3108960" cy="619963"/>
          </a:xfrm>
          <a:prstGeom prst="roundRect">
            <a:avLst>
              <a:gd fmla="val 11799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7374636" y="1783080"/>
            <a:ext cx="3108960" cy="619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1 Seat + 1 Room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6"/>
          <p:cNvCxnSpPr/>
          <p:nvPr/>
        </p:nvCxnSpPr>
        <p:spPr>
          <a:xfrm>
            <a:off x="8929116" y="2403043"/>
            <a:ext cx="0" cy="128016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" name="Google Shape;106;p6"/>
          <p:cNvSpPr/>
          <p:nvPr/>
        </p:nvSpPr>
        <p:spPr>
          <a:xfrm>
            <a:off x="7374636" y="2531059"/>
            <a:ext cx="3108960" cy="619963"/>
          </a:xfrm>
          <a:prstGeom prst="roundRect">
            <a:avLst>
              <a:gd fmla="val 11799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374636" y="2531059"/>
            <a:ext cx="3108960" cy="619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Books &lt;15 Days Ahead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6"/>
          <p:cNvCxnSpPr/>
          <p:nvPr/>
        </p:nvCxnSpPr>
        <p:spPr>
          <a:xfrm>
            <a:off x="8929116" y="3151022"/>
            <a:ext cx="0" cy="128016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p6"/>
          <p:cNvSpPr/>
          <p:nvPr/>
        </p:nvSpPr>
        <p:spPr>
          <a:xfrm>
            <a:off x="7374636" y="3279038"/>
            <a:ext cx="3108960" cy="619963"/>
          </a:xfrm>
          <a:prstGeom prst="roundRect">
            <a:avLst>
              <a:gd fmla="val 11799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374636" y="3279038"/>
            <a:ext cx="3108960" cy="619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Business Travel Pattern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6"/>
          <p:cNvCxnSpPr/>
          <p:nvPr/>
        </p:nvCxnSpPr>
        <p:spPr>
          <a:xfrm>
            <a:off x="8929116" y="3899002"/>
            <a:ext cx="0" cy="128016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6"/>
          <p:cNvSpPr/>
          <p:nvPr/>
        </p:nvSpPr>
        <p:spPr>
          <a:xfrm>
            <a:off x="7374636" y="4027018"/>
            <a:ext cx="3108960" cy="619963"/>
          </a:xfrm>
          <a:prstGeom prst="roundRect">
            <a:avLst>
              <a:gd fmla="val 11799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7374636" y="4027018"/>
            <a:ext cx="3108960" cy="619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6"/>
          <p:cNvCxnSpPr/>
          <p:nvPr/>
        </p:nvCxnSpPr>
        <p:spPr>
          <a:xfrm>
            <a:off x="8929116" y="4646981"/>
            <a:ext cx="0" cy="128016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6"/>
          <p:cNvSpPr/>
          <p:nvPr/>
        </p:nvSpPr>
        <p:spPr>
          <a:xfrm>
            <a:off x="7374636" y="4774997"/>
            <a:ext cx="3108960" cy="619963"/>
          </a:xfrm>
          <a:prstGeom prst="roundRect">
            <a:avLst>
              <a:gd fmla="val 1179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7374636" y="4774997"/>
            <a:ext cx="3108960" cy="619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Exclusive Discounts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126475" y="5532125"/>
            <a:ext cx="5605200" cy="1036500"/>
          </a:xfrm>
          <a:prstGeom prst="roundRect">
            <a:avLst>
              <a:gd fmla="val 9412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355080" y="5623560"/>
            <a:ext cx="5148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CE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FDCE8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355080" y="5824728"/>
            <a:ext cx="5148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Exclusive Discounts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355080" y="6153912"/>
            <a:ext cx="5148000" cy="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BF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BF2"/>
                </a:solidFill>
                <a:latin typeface="Calibri"/>
                <a:ea typeface="Calibri"/>
                <a:cs typeface="Calibri"/>
                <a:sym typeface="Calibri"/>
              </a:rPr>
              <a:t>Frequent travelers are more likely to respond to recurring discounts that encourage repeat bookings.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SEGMENT PROFILE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Solo Travelers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02920" y="1417320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DEFINING CRITERIA (FROM SQL)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02920" y="1728216"/>
            <a:ext cx="5349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1 seat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1 room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Does not satisfy Business rules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02920" y="2962656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DISTINCTION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02920" y="3273552"/>
            <a:ext cx="5349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Less time-sensitive bookings (unlike Business travelers)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More leisure-oriented travel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Independent travelers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02920" y="5532120"/>
            <a:ext cx="5349240" cy="822960"/>
          </a:xfrm>
          <a:prstGeom prst="roundRect">
            <a:avLst>
              <a:gd fmla="val 8889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704088" y="5623560"/>
            <a:ext cx="4946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EVIDENCE FROM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704088" y="5843016"/>
            <a:ext cx="49469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1,299 customers (21.66%)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78.52% checked baggage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126480" y="1417320"/>
            <a:ext cx="5605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SEGMENTATION LOGIC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374636" y="1783080"/>
            <a:ext cx="3108960" cy="806958"/>
          </a:xfrm>
          <a:prstGeom prst="roundRect">
            <a:avLst>
              <a:gd fmla="val 9065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7374636" y="1783080"/>
            <a:ext cx="3108960" cy="806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1 Seat + 1 Room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7"/>
          <p:cNvCxnSpPr/>
          <p:nvPr/>
        </p:nvCxnSpPr>
        <p:spPr>
          <a:xfrm>
            <a:off x="8929116" y="2590038"/>
            <a:ext cx="0" cy="128016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" name="Google Shape;140;p7"/>
          <p:cNvSpPr/>
          <p:nvPr/>
        </p:nvSpPr>
        <p:spPr>
          <a:xfrm>
            <a:off x="7374636" y="2718054"/>
            <a:ext cx="3108960" cy="806958"/>
          </a:xfrm>
          <a:prstGeom prst="roundRect">
            <a:avLst>
              <a:gd fmla="val 9065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7374636" y="2718054"/>
            <a:ext cx="3108960" cy="806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Not Business Rules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7"/>
          <p:cNvCxnSpPr/>
          <p:nvPr/>
        </p:nvCxnSpPr>
        <p:spPr>
          <a:xfrm>
            <a:off x="8929116" y="3525012"/>
            <a:ext cx="0" cy="128016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" name="Google Shape;143;p7"/>
          <p:cNvSpPr/>
          <p:nvPr/>
        </p:nvSpPr>
        <p:spPr>
          <a:xfrm>
            <a:off x="7374636" y="3653028"/>
            <a:ext cx="3108960" cy="806958"/>
          </a:xfrm>
          <a:prstGeom prst="roundRect">
            <a:avLst>
              <a:gd fmla="val 9065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7374636" y="3653028"/>
            <a:ext cx="3108960" cy="806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SOLO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7"/>
          <p:cNvCxnSpPr/>
          <p:nvPr/>
        </p:nvCxnSpPr>
        <p:spPr>
          <a:xfrm>
            <a:off x="8929116" y="4459986"/>
            <a:ext cx="0" cy="128016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" name="Google Shape;146;p7"/>
          <p:cNvSpPr/>
          <p:nvPr/>
        </p:nvSpPr>
        <p:spPr>
          <a:xfrm>
            <a:off x="7374636" y="4588002"/>
            <a:ext cx="3108960" cy="806958"/>
          </a:xfrm>
          <a:prstGeom prst="roundRect">
            <a:avLst>
              <a:gd fmla="val 906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374636" y="4588002"/>
            <a:ext cx="3108960" cy="806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 Checked Bag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126475" y="5532126"/>
            <a:ext cx="5605200" cy="960000"/>
          </a:xfrm>
          <a:prstGeom prst="roundRect">
            <a:avLst>
              <a:gd fmla="val 9412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355080" y="5623560"/>
            <a:ext cx="5148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CE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FDCE8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355080" y="5824728"/>
            <a:ext cx="5148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Free Checked Bag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355080" y="6153912"/>
            <a:ext cx="5148072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BF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BF2"/>
                </a:solidFill>
                <a:latin typeface="Calibri"/>
                <a:ea typeface="Calibri"/>
                <a:cs typeface="Calibri"/>
                <a:sym typeface="Calibri"/>
              </a:rPr>
              <a:t>Most Solo travelers travel with luggage, making baggage savings highly relevant.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SEGMENT PROFILE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Family &amp; Group Travelers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02920" y="1417320"/>
            <a:ext cx="5410048" cy="2999232"/>
          </a:xfrm>
          <a:prstGeom prst="roundRect">
            <a:avLst>
              <a:gd fmla="val 2439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777240" y="1600200"/>
            <a:ext cx="4861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FAMILY TRAVELERS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77240" y="2011680"/>
            <a:ext cx="4861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RULE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77240" y="2212848"/>
            <a:ext cx="4861408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Married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At least 2 seats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At least 1 room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77240" y="3200400"/>
            <a:ext cx="4861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DISTINCTION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77240" y="3401568"/>
            <a:ext cx="4861408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Travel as households.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Booking behavior reflects family vacations.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777240" y="4142232"/>
            <a:ext cx="486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Evidence: </a:t>
            </a:r>
            <a:r>
              <a:rPr b="0" i="0" lang="en-US" sz="11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Highest baggage usage (87.11%)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77240" y="4526280"/>
            <a:ext cx="4861408" cy="384048"/>
          </a:xfrm>
          <a:prstGeom prst="roundRect">
            <a:avLst>
              <a:gd fmla="val 19048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777240" y="4526280"/>
            <a:ext cx="48614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 Checked Bag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278728" y="1417320"/>
            <a:ext cx="5410048" cy="2999232"/>
          </a:xfrm>
          <a:prstGeom prst="roundRect">
            <a:avLst>
              <a:gd fmla="val 2439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6553048" y="1600200"/>
            <a:ext cx="4861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GROUP TRAVELERS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553048" y="2011680"/>
            <a:ext cx="4861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RULE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553048" y="2212848"/>
            <a:ext cx="4861408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Multiple seats and/or multiple hotel rooms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Not classified as Family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553048" y="2953512"/>
            <a:ext cx="4861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DISTINCTION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553048" y="3154680"/>
            <a:ext cx="4861408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Friends, colleagues, or organized groups.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Larger accommodation bookings.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553048" y="3895344"/>
            <a:ext cx="486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Evidence: </a:t>
            </a:r>
            <a:r>
              <a:rPr b="0" i="0" lang="en-US" sz="11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Strong hotel discount usage (16.94%)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553048" y="4526280"/>
            <a:ext cx="4861408" cy="384048"/>
          </a:xfrm>
          <a:prstGeom prst="roundRect">
            <a:avLst>
              <a:gd fmla="val 19048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6553048" y="4526280"/>
            <a:ext cx="48614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Free Hotel Night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952848" y="5184648"/>
            <a:ext cx="2377440" cy="384048"/>
          </a:xfrm>
          <a:prstGeom prst="roundRect">
            <a:avLst>
              <a:gd fmla="val 19048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952848" y="518464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2+ Travelers — Family?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8"/>
          <p:cNvCxnSpPr/>
          <p:nvPr/>
        </p:nvCxnSpPr>
        <p:spPr>
          <a:xfrm>
            <a:off x="6141568" y="5568696"/>
            <a:ext cx="0" cy="201168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8"/>
          <p:cNvCxnSpPr/>
          <p:nvPr/>
        </p:nvCxnSpPr>
        <p:spPr>
          <a:xfrm>
            <a:off x="3931243" y="5769864"/>
            <a:ext cx="4420649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8"/>
          <p:cNvCxnSpPr/>
          <p:nvPr/>
        </p:nvCxnSpPr>
        <p:spPr>
          <a:xfrm>
            <a:off x="3931243" y="5769864"/>
            <a:ext cx="0" cy="201168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" name="Google Shape;183;p8"/>
          <p:cNvCxnSpPr/>
          <p:nvPr/>
        </p:nvCxnSpPr>
        <p:spPr>
          <a:xfrm>
            <a:off x="8351892" y="5769864"/>
            <a:ext cx="0" cy="201168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" name="Google Shape;184;p8"/>
          <p:cNvSpPr/>
          <p:nvPr/>
        </p:nvSpPr>
        <p:spPr>
          <a:xfrm>
            <a:off x="2559643" y="5971032"/>
            <a:ext cx="2743200" cy="402336"/>
          </a:xfrm>
          <a:prstGeom prst="roundRect">
            <a:avLst>
              <a:gd fmla="val 18182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2559643" y="5971032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FAMILY → Free Bag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980292" y="5971032"/>
            <a:ext cx="2743200" cy="402336"/>
          </a:xfrm>
          <a:prstGeom prst="roundRect">
            <a:avLst>
              <a:gd fmla="val 18182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6980292" y="5971032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→ Free Hotel Night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559643" y="575157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980292" y="575157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SEGMENT PROFILE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New Customers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02920" y="1417320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DEFINING CRITERIA (FROM SQL)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02920" y="1728216"/>
            <a:ext cx="5349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No completed trips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Or every booked trip was cancelled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02920" y="2688336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DISTINCTION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02920" y="2999232"/>
            <a:ext cx="5349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No successful travel history (unlike all other segments)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High booking uncertainty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02920" y="5532120"/>
            <a:ext cx="5349240" cy="822960"/>
          </a:xfrm>
          <a:prstGeom prst="roundRect">
            <a:avLst>
              <a:gd fmla="val 8889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704088" y="5623560"/>
            <a:ext cx="4946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EVIDENCE FROM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704088" y="5843016"/>
            <a:ext cx="49469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Cancellation rate: 50.51%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Lowest baggage usage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126480" y="1417320"/>
            <a:ext cx="5605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SEGMENTATION LOGIC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374636" y="1783080"/>
            <a:ext cx="3108960" cy="1011936"/>
          </a:xfrm>
          <a:prstGeom prst="roundRect">
            <a:avLst>
              <a:gd fmla="val 7229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7374636" y="1783080"/>
            <a:ext cx="3108960" cy="1011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Completed Trip?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9"/>
          <p:cNvCxnSpPr/>
          <p:nvPr/>
        </p:nvCxnSpPr>
        <p:spPr>
          <a:xfrm>
            <a:off x="8929116" y="2795016"/>
            <a:ext cx="0" cy="128016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" name="Google Shape;209;p9"/>
          <p:cNvSpPr/>
          <p:nvPr/>
        </p:nvSpPr>
        <p:spPr>
          <a:xfrm>
            <a:off x="7374636" y="2923032"/>
            <a:ext cx="3108960" cy="1011936"/>
          </a:xfrm>
          <a:prstGeom prst="roundRect">
            <a:avLst>
              <a:gd fmla="val 7229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7374636" y="2923032"/>
            <a:ext cx="3108960" cy="1011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No → NEW CUSTOMER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9"/>
          <p:cNvCxnSpPr/>
          <p:nvPr/>
        </p:nvCxnSpPr>
        <p:spPr>
          <a:xfrm>
            <a:off x="8929116" y="3934968"/>
            <a:ext cx="0" cy="128016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" name="Google Shape;212;p9"/>
          <p:cNvSpPr/>
          <p:nvPr/>
        </p:nvSpPr>
        <p:spPr>
          <a:xfrm>
            <a:off x="7374636" y="4062984"/>
            <a:ext cx="3108960" cy="1011936"/>
          </a:xfrm>
          <a:prstGeom prst="roundRect">
            <a:avLst>
              <a:gd fmla="val 722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7374636" y="4062984"/>
            <a:ext cx="3108960" cy="1011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Cancellation Fee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126480" y="5212080"/>
            <a:ext cx="5605272" cy="1097280"/>
          </a:xfrm>
          <a:prstGeom prst="roundRect">
            <a:avLst>
              <a:gd fmla="val 666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6355080" y="5303520"/>
            <a:ext cx="5148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CE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FDCE8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355080" y="5504688"/>
            <a:ext cx="5148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 Cancellation Fees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355080" y="5833872"/>
            <a:ext cx="51480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BF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BF2"/>
                </a:solidFill>
                <a:latin typeface="Calibri"/>
                <a:ea typeface="Calibri"/>
                <a:cs typeface="Calibri"/>
                <a:sym typeface="Calibri"/>
              </a:rPr>
              <a:t>Business Logic: Reduce perceived booking risk and encourage first successful trip.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SEGMENT PROFILE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Weekender, Hotel &amp; Flight Travelers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02920" y="1463040"/>
            <a:ext cx="3545738" cy="3794760"/>
          </a:xfrm>
          <a:prstGeom prst="roundRect">
            <a:avLst>
              <a:gd fmla="val 2063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731520" y="1691640"/>
            <a:ext cx="30885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WEEKENDER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31520" y="2148840"/>
            <a:ext cx="308853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RULE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731520" y="2450592"/>
            <a:ext cx="30885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Friday/Saturday departure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Stay between 1–3 nights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731520" y="4480560"/>
            <a:ext cx="3088538" cy="502920"/>
          </a:xfrm>
          <a:prstGeom prst="roundRect">
            <a:avLst>
              <a:gd fmla="val 1454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914400" y="4480560"/>
            <a:ext cx="272277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CE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FDCE8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914400" y="4681728"/>
            <a:ext cx="27227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Free Hotel Meal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322978" y="1463040"/>
            <a:ext cx="3545738" cy="3794760"/>
          </a:xfrm>
          <a:prstGeom prst="roundRect">
            <a:avLst>
              <a:gd fmla="val 2063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4551578" y="1691640"/>
            <a:ext cx="30885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HOTEL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551578" y="2148840"/>
            <a:ext cx="308853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RULE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551578" y="2450592"/>
            <a:ext cx="30885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Hotel bookings only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No flights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551578" y="4480560"/>
            <a:ext cx="3088538" cy="502920"/>
          </a:xfrm>
          <a:prstGeom prst="roundRect">
            <a:avLst>
              <a:gd fmla="val 1454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4734458" y="4480560"/>
            <a:ext cx="272277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CE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FDCE8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734458" y="4681728"/>
            <a:ext cx="27227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Free Hotel Meal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143037" y="1463040"/>
            <a:ext cx="3545738" cy="3794760"/>
          </a:xfrm>
          <a:prstGeom prst="roundRect">
            <a:avLst>
              <a:gd fmla="val 2063" name="adj"/>
            </a:avLst>
          </a:prstGeom>
          <a:solidFill>
            <a:srgbClr val="EA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8371637" y="1691640"/>
            <a:ext cx="30885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FLIGHT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371637" y="2148840"/>
            <a:ext cx="308853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RULE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8371637" y="2450592"/>
            <a:ext cx="30885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Flight bookings only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No hotels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8371637" y="4480560"/>
            <a:ext cx="3088538" cy="502920"/>
          </a:xfrm>
          <a:prstGeom prst="roundRect">
            <a:avLst>
              <a:gd fmla="val 1454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8554517" y="4480560"/>
            <a:ext cx="272277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CE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FDCE8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8554517" y="4681728"/>
            <a:ext cx="27227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Free Checked Bag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502920" y="5532120"/>
            <a:ext cx="11185855" cy="640080"/>
          </a:xfrm>
          <a:prstGeom prst="roundRect">
            <a:avLst>
              <a:gd fmla="val 11429" name="adj"/>
            </a:avLst>
          </a:prstGeom>
          <a:solidFill>
            <a:srgbClr val="DCEB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731520" y="5623560"/>
            <a:ext cx="107286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DISTINCTION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731520" y="5824728"/>
            <a:ext cx="107286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Each segment is defined by the customer's primary booking behavior rather than demographics.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Final Reward Assignment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8" name="Google Shape;258;p11"/>
          <p:cNvGraphicFramePr/>
          <p:nvPr/>
        </p:nvGraphicFramePr>
        <p:xfrm>
          <a:off x="50292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{165CC0EE-2C8E-4264-ABCE-00DA0B6535D8}</a:tableStyleId>
              </a:tblPr>
              <a:tblGrid>
                <a:gridCol w="2377450"/>
                <a:gridCol w="5120650"/>
                <a:gridCol w="3474725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Segment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 Rule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Reward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Solo + Short Booking Window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Exclusive Discounts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Solo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Solo Leisure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Checked Bag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6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Family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Married + Multi-seat Booking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Checked Bag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Multi-person Booking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Free Hotel Night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6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Successful Trips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Cancellation Fees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Weekender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Weekend Short Trips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Hotel Meal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6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Hotel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Hotel Only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Hotel Meal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Flight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2A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Flight Only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Checked Bag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6"/>
                    </a:solidFill>
                  </a:tcPr>
                </a:tc>
              </a:tr>
            </a:tbl>
          </a:graphicData>
        </a:graphic>
      </p:graphicFrame>
      <p:sp>
        <p:nvSpPr>
          <p:cNvPr id="259" name="Google Shape;259;p11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Business Recommendations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02920" y="1463040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02920" y="1828800"/>
            <a:ext cx="67665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Business and Solo travelers account for 58.82% of reward-eligible customers, making them the highest-impact segments.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1B2A41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Family travelers have the highest baggage usage (87.11%), supporting baggage-related rewards.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1B2A41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New customers have a 50.51% cancellation rate, indicating that reducing booking risk could improve conversion.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1B2A41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Group travelers generate larger bookings, making hotel-based rewards attractive.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7543800" y="1463040"/>
            <a:ext cx="4144975" cy="4480560"/>
          </a:xfrm>
          <a:prstGeom prst="roundRect">
            <a:avLst>
              <a:gd fmla="val 176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7818120" y="1737360"/>
            <a:ext cx="35963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C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FDCE8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818120" y="2148840"/>
            <a:ext cx="3596335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Replace a single rewards campaign with personalized offers based on customer behavior.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548640" y="50292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48640" y="1600200"/>
            <a:ext cx="5364328" cy="4206240"/>
          </a:xfrm>
          <a:prstGeom prst="roundRect">
            <a:avLst>
              <a:gd fmla="val 1739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868680" y="1874520"/>
            <a:ext cx="47242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9D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FC9DB"/>
                </a:solidFill>
                <a:latin typeface="Calibri"/>
                <a:ea typeface="Calibri"/>
                <a:cs typeface="Calibri"/>
                <a:sym typeface="Calibri"/>
              </a:rPr>
              <a:t>DELIVERABLES ACHIEVED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868680" y="2331720"/>
            <a:ext cx="47242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D3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FD3A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5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SQL query with user-level feature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868680" y="2990088"/>
            <a:ext cx="47242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D3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FD3A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5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Rule-based segmentation assigning every user to exactly one segment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868680" y="3648456"/>
            <a:ext cx="47242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D3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FD3A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5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One personalized reward for every segment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868680" y="4306824"/>
            <a:ext cx="47242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D3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FD3A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5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Business recommendations supported by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6278728" y="1600200"/>
            <a:ext cx="5364328" cy="4206240"/>
          </a:xfrm>
          <a:prstGeom prst="roundRect">
            <a:avLst>
              <a:gd fmla="val 1739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6598768" y="1874520"/>
            <a:ext cx="47242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BF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6EBF2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6598768" y="2331720"/>
            <a:ext cx="472424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Launch pilot campaigns for each reward.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uplift using A/B testing.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Refine segmentation as more customer data becomes available.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"/>
          <p:cNvSpPr/>
          <p:nvPr/>
        </p:nvSpPr>
        <p:spPr>
          <a:xfrm>
            <a:off x="822960" y="19659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868680" y="27889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CE8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BFDCE8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868680" y="3566160"/>
            <a:ext cx="6583680" cy="1965960"/>
          </a:xfrm>
          <a:prstGeom prst="roundRect">
            <a:avLst>
              <a:gd fmla="val 3721" name="adj"/>
            </a:avLst>
          </a:prstGeom>
          <a:solidFill>
            <a:srgbClr val="1B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1097280" y="3749040"/>
            <a:ext cx="6126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9D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FC9DB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1097280" y="4096512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D3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D3A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Customers naturally separate into 8 behavioral segments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1097280" y="448056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D3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D3A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One-size-fits-all rewards miss the mark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1097280" y="4864608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D3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D3A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Personalization delivers higher engagement and ROI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1097280" y="5248656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D3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D3A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Every segment is assigned exactly one reward, with none left unassigned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7772400" y="3566160"/>
            <a:ext cx="3566160" cy="1965960"/>
          </a:xfrm>
          <a:prstGeom prst="roundRect">
            <a:avLst>
              <a:gd fmla="val 3721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8001000" y="37490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BF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6EBF2"/>
                </a:solidFill>
                <a:latin typeface="Calibri"/>
                <a:ea typeface="Calibri"/>
                <a:cs typeface="Calibri"/>
                <a:sym typeface="Calibri"/>
              </a:rPr>
              <a:t>CONTACT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8001000" y="40690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Uddipta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8001000" y="4462272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B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EBF2"/>
                </a:solidFill>
                <a:latin typeface="Calibri"/>
                <a:ea typeface="Calibri"/>
                <a:cs typeface="Calibri"/>
                <a:sym typeface="Calibri"/>
              </a:rPr>
              <a:t>Data Analytics &amp; Strategy Department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12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